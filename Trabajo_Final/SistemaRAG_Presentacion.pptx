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96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828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2377440" cy="34747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7FB5C8"/>
                </a:solidFill>
              </a:rPr>
              <a:t>IA GENERATIVA  ·  MAESTRÍA EN DATA SCIENCE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RAG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7F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7F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Question Answering sobre documentos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11480" y="3017520"/>
            <a:ext cx="3657600" cy="36576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F4F8"/>
                </a:solidFill>
              </a:rPr>
              <a:t>Luis Sanchez  ·  Jonathan Ramirez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B5C8"/>
                </a:solidFill>
              </a:rPr>
              <a:t>Proyecto Final  · 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365760"/>
            <a:ext cx="2194560" cy="2194560"/>
          </a:xfrm>
          <a:prstGeom prst="ellipse">
            <a:avLst/>
          </a:prstGeom>
          <a:solidFill>
            <a:srgbClr val="0E8A8A">
              <a:alpha val="15000"/>
            </a:srgbClr>
          </a:solidFill>
          <a:ln w="12700">
            <a:solidFill>
              <a:srgbClr val="0E8A8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2011680"/>
            <a:ext cx="1280160" cy="1280160"/>
          </a:xfrm>
          <a:prstGeom prst="ellipse">
            <a:avLst/>
          </a:prstGeom>
          <a:solidFill>
            <a:srgbClr val="12C2C2">
              <a:alpha val="20000"/>
            </a:srgbClr>
          </a:solidFill>
          <a:ln w="12700">
            <a:solidFill>
              <a:srgbClr val="12C2C2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371600"/>
            <a:ext cx="640080" cy="640080"/>
          </a:xfrm>
          <a:prstGeom prst="ellipse">
            <a:avLst/>
          </a:prstGeom>
          <a:solidFill>
            <a:srgbClr val="F5C518">
              <a:alpha val="40000"/>
            </a:srgbClr>
          </a:solidFill>
          <a:ln w="12700">
            <a:solidFill>
              <a:srgbClr val="F5C518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777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E8A8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269748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697480" cy="6400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C2C2"/>
                </a:solidFill>
              </a:rPr>
              <a:t>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5C8"/>
                </a:solidFill>
              </a:rPr>
              <a:t>Los LLMs generan respuestas plausibles pero incorrectas cuando no tienen contexto suficiente.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2697480" cy="6400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C2C2"/>
                </a:solidFill>
              </a:rPr>
              <a:t>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estático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5C8"/>
                </a:solidFill>
              </a:rPr>
              <a:t>El modelo no accede a documentos externos ni a información actualizada en tiempo real.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269748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C2C2"/>
                </a:solidFill>
              </a:rPr>
              <a:t>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fuentes verificables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5C8"/>
                </a:solidFill>
              </a:rPr>
              <a:t>Las respuestas no indican de dónde proviene la información, dificultando la verificación.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069080"/>
            <a:ext cx="8321040" cy="640080"/>
          </a:xfrm>
          <a:prstGeom prst="rect">
            <a:avLst/>
          </a:prstGeom>
          <a:solidFill>
            <a:srgbClr val="0E8A8A">
              <a:alpha val="15000"/>
            </a:srgbClr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690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C2C2"/>
                </a:solidFill>
              </a:rPr>
              <a:t>Solución → RAG combina recuperación de información con generación aumentada por contexto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RAG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1078992" cy="1005840"/>
          </a:xfrm>
          <a:prstGeom prst="rect">
            <a:avLst/>
          </a:prstGeom>
          <a:solidFill>
            <a:srgbClr val="0E8A8A"/>
          </a:solidFill>
          <a:ln w="12700">
            <a:solidFill>
              <a:srgbClr val="12C2C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960120"/>
            <a:ext cx="310896" cy="310896"/>
          </a:xfrm>
          <a:prstGeom prst="ellipse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960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12984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Documentos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Wikipedia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90472" y="1874520"/>
            <a:ext cx="109728" cy="36576"/>
          </a:xfrm>
          <a:prstGeom prst="rect">
            <a:avLst/>
          </a:prstGeom>
          <a:solidFill>
            <a:srgbClr val="7FB5C8"/>
          </a:solidFill>
          <a:ln w="12700">
            <a:solidFill>
              <a:srgbClr val="7FB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45336" y="1783080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5C8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36776" y="1005840"/>
            <a:ext cx="1078992" cy="1005840"/>
          </a:xfrm>
          <a:prstGeom prst="rect">
            <a:avLst/>
          </a:prstGeom>
          <a:solidFill>
            <a:srgbClr val="1A6A8A"/>
          </a:solidFill>
          <a:ln w="12700">
            <a:solidFill>
              <a:srgbClr val="12C2C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0824" y="960120"/>
            <a:ext cx="310896" cy="310896"/>
          </a:xfrm>
          <a:prstGeom prst="ellipse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0824" y="960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73352" y="12984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Chunking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+ Overlap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15768" y="1874520"/>
            <a:ext cx="109728" cy="36576"/>
          </a:xfrm>
          <a:prstGeom prst="rect">
            <a:avLst/>
          </a:prstGeom>
          <a:solidFill>
            <a:srgbClr val="7FB5C8"/>
          </a:solidFill>
          <a:ln w="12700">
            <a:solidFill>
              <a:srgbClr val="7FB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783080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5C8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62072" y="1005840"/>
            <a:ext cx="1078992" cy="1005840"/>
          </a:xfrm>
          <a:prstGeom prst="rect">
            <a:avLst/>
          </a:prstGeom>
          <a:solidFill>
            <a:srgbClr val="1A5A7A"/>
          </a:solidFill>
          <a:ln w="12700">
            <a:solidFill>
              <a:srgbClr val="12C2C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960120"/>
            <a:ext cx="310896" cy="310896"/>
          </a:xfrm>
          <a:prstGeom prst="ellipse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960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98648" y="12984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Embeddings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all-MiniLM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41064" y="1874520"/>
            <a:ext cx="109728" cy="36576"/>
          </a:xfrm>
          <a:prstGeom prst="rect">
            <a:avLst/>
          </a:prstGeom>
          <a:solidFill>
            <a:srgbClr val="7FB5C8"/>
          </a:solidFill>
          <a:ln w="12700">
            <a:solidFill>
              <a:srgbClr val="7FB5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95928" y="1783080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5C8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087368" y="1005840"/>
            <a:ext cx="1078992" cy="1005840"/>
          </a:xfrm>
          <a:prstGeom prst="rect">
            <a:avLst/>
          </a:prstGeom>
          <a:solidFill>
            <a:srgbClr val="164A6A"/>
          </a:solidFill>
          <a:ln w="12700">
            <a:solidFill>
              <a:srgbClr val="12C2C2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1416" y="960120"/>
            <a:ext cx="310896" cy="310896"/>
          </a:xfrm>
          <a:prstGeom prst="ellipse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1416" y="960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23944" y="12984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FAISS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HNSW Index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66360" y="1874520"/>
            <a:ext cx="109728" cy="36576"/>
          </a:xfrm>
          <a:prstGeom prst="rect">
            <a:avLst/>
          </a:prstGeom>
          <a:solidFill>
            <a:srgbClr val="7FB5C8"/>
          </a:solidFill>
          <a:ln w="12700">
            <a:solidFill>
              <a:srgbClr val="7FB5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21224" y="1783080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5C8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12664" y="1005840"/>
            <a:ext cx="1078992" cy="1005840"/>
          </a:xfrm>
          <a:prstGeom prst="rect">
            <a:avLst/>
          </a:prstGeom>
          <a:solidFill>
            <a:srgbClr val="123A5A"/>
          </a:solidFill>
          <a:ln w="12700">
            <a:solidFill>
              <a:srgbClr val="12C2C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96712" y="960120"/>
            <a:ext cx="310896" cy="310896"/>
          </a:xfrm>
          <a:prstGeom prst="ellipse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96712" y="960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12984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BM25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Hybrid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91656" y="1874520"/>
            <a:ext cx="109728" cy="36576"/>
          </a:xfrm>
          <a:prstGeom prst="rect">
            <a:avLst/>
          </a:prstGeom>
          <a:solidFill>
            <a:srgbClr val="7FB5C8"/>
          </a:solidFill>
          <a:ln w="12700">
            <a:solidFill>
              <a:srgbClr val="7FB5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783080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5C8"/>
                </a:solidFill>
              </a:rPr>
              <a:t>▶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37960" y="1005840"/>
            <a:ext cx="1078992" cy="1005840"/>
          </a:xfrm>
          <a:prstGeom prst="rect">
            <a:avLst/>
          </a:prstGeom>
          <a:solidFill>
            <a:srgbClr val="0E2A4A"/>
          </a:solidFill>
          <a:ln w="12700">
            <a:solidFill>
              <a:srgbClr val="12C2C2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22008" y="960120"/>
            <a:ext cx="310896" cy="310896"/>
          </a:xfrm>
          <a:prstGeom prst="ellipse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2008" y="960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74536" y="12984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CrossEncoder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Reranker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16952" y="1874520"/>
            <a:ext cx="109728" cy="36576"/>
          </a:xfrm>
          <a:prstGeom prst="rect">
            <a:avLst/>
          </a:prstGeom>
          <a:solidFill>
            <a:srgbClr val="7FB5C8"/>
          </a:solidFill>
          <a:ln w="12700">
            <a:solidFill>
              <a:srgbClr val="7FB5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71816" y="1783080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5C8"/>
                </a:solidFill>
              </a:rPr>
              <a:t>▶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763256" y="1005840"/>
            <a:ext cx="1078992" cy="1005840"/>
          </a:xfrm>
          <a:prstGeom prst="rect">
            <a:avLst/>
          </a:prstGeom>
          <a:solidFill>
            <a:srgbClr val="0A1A3A"/>
          </a:solidFill>
          <a:ln w="12700">
            <a:solidFill>
              <a:srgbClr val="12C2C2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47304" y="960120"/>
            <a:ext cx="310896" cy="310896"/>
          </a:xfrm>
          <a:prstGeom prst="ellipse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47304" y="960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99832" y="12984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Qwen-2.5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1.5B LLM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233172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B5C8"/>
                </a:solidFill>
              </a:rPr>
              <a:t>Salidas del sistema: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11480" y="2834640"/>
            <a:ext cx="201168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2834640"/>
            <a:ext cx="64008" cy="10972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880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Respuesta generada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3264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por el LLM con contexto recuperado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0" y="2834640"/>
            <a:ext cx="201168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0" y="2834640"/>
            <a:ext cx="64008" cy="10972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97480" y="2880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Citas por oración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697480" y="3264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attribution sentence-level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09160" y="2834640"/>
            <a:ext cx="201168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9160" y="2834640"/>
            <a:ext cx="64008" cy="10972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2880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Grounding Score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46320" y="3264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0–1, detección de alucinaciones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58000" y="2834640"/>
            <a:ext cx="201168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2834640"/>
            <a:ext cx="64008" cy="10972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95160" y="2880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BLEU / ROUGE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995160" y="3264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evaluación automática de calidad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Chunking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3931920" cy="35661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3931920" cy="5486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Dataset: Wikipedia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3749040" cy="566928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B5C8"/>
                </a:solidFill>
              </a:rPr>
              <a:t>Fuente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4630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Wikipedia (inglés)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2140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B5C8"/>
                </a:solidFill>
              </a:rPr>
              <a:t>Artículos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212140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~250 artículos de IA/ML/NLP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61488"/>
            <a:ext cx="3749040" cy="566928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7977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B5C8"/>
                </a:solidFill>
              </a:rPr>
              <a:t>Chunks totales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779776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&gt; 100 chunks (req. cumplido)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3749040" cy="566928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3814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B5C8"/>
                </a:solidFill>
              </a:rPr>
              <a:t>Temas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3438144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AI, ML, NLP, Deep Learning,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Neural Nets, RL, CV, etc.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914400"/>
            <a:ext cx="40690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9875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Chunking con Overlap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1463040"/>
            <a:ext cx="3886200" cy="43891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813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chunk_size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14813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512 tokens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14813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5C8"/>
                </a:solidFill>
              </a:rPr>
              <a:t>≈ 2048 chars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993392"/>
            <a:ext cx="3886200" cy="43891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116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overlap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0116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128 tokens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201168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5C8"/>
                </a:solidFill>
              </a:rPr>
              <a:t>25% solapamiento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523744"/>
            <a:ext cx="3886200" cy="43891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5420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stride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5420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384 tokens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54203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5C8"/>
                </a:solidFill>
              </a:rPr>
              <a:t>chunk_size - overlap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072384"/>
            <a:ext cx="3886200" cy="1335024"/>
          </a:xfrm>
          <a:prstGeom prst="rect">
            <a:avLst/>
          </a:prstGeom>
          <a:solidFill>
            <a:srgbClr val="0E203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C2C2"/>
                </a:solidFill>
              </a:rPr>
              <a:t>Trade-off del chunk size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429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518"/>
                </a:solidFill>
              </a:rPr>
              <a:t>Chunk pequeño: </a:t>
            </a:r>
            <a:r>
              <a:rPr lang="en-US" sz="1000" dirty="0">
                <a:solidFill>
                  <a:srgbClr val="7FB5C8"/>
                </a:solidFill>
              </a:rPr>
              <a:t>más precisión, menos contexto
</a:t>
            </a:r>
            <a:r>
              <a:rPr lang="en-US" sz="1000" b="1" dirty="0">
                <a:solidFill>
                  <a:srgbClr val="F5C518"/>
                </a:solidFill>
              </a:rPr>
              <a:t>Chunk grande: </a:t>
            </a:r>
            <a:r>
              <a:rPr lang="en-US" sz="1000" dirty="0">
                <a:solidFill>
                  <a:srgbClr val="7FB5C8"/>
                </a:solidFill>
              </a:rPr>
              <a:t>más contexto, menor relevancia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 +  Reranker Cross-Encoder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393192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3931920" cy="54864"/>
          </a:xfrm>
          <a:prstGeom prst="rect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FAISS — IndexHNSWFlat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B5C8"/>
                </a:solidFill>
              </a:rPr>
              <a:t>Hierarchical Navigable Small World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3749040" cy="365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556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M (conexiones)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7556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32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3749040" cy="365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94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efConstruction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15184"/>
            <a:ext cx="3749040" cy="365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334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efSearch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63347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64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054096"/>
            <a:ext cx="3749040" cy="365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723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Modelo embed.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07238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all-MiniLM-L6-v2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493008"/>
            <a:ext cx="3749040" cy="365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11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Dimensión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351129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384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31920"/>
            <a:ext cx="3749040" cy="365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50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Top-K FAISS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95020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20 candidatos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914400"/>
            <a:ext cx="406908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914400"/>
            <a:ext cx="40690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Cross-Encoder Reranker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B5C8"/>
                </a:solidFill>
              </a:rPr>
              <a:t>ms-marco-MiniLM-L-6-v2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173736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Bi-encoder (FAISS):
</a:t>
            </a:r>
            <a:r>
              <a:rPr lang="en-US" sz="1000" dirty="0">
                <a:solidFill>
                  <a:srgbClr val="7FB5C8"/>
                </a:solidFill>
              </a:rPr>
              <a:t>Codifica query y docs por separado → rápido pero menos preciso
</a:t>
            </a:r>
            <a:r>
              <a:rPr lang="en-US" sz="1000" b="1" dirty="0">
                <a:solidFill>
                  <a:srgbClr val="F5C518"/>
                </a:solidFill>
              </a:rPr>
              <a:t>Cross-encoder (Reranker):
</a:t>
            </a:r>
            <a:r>
              <a:rPr lang="en-US" sz="1000" dirty="0">
                <a:solidFill>
                  <a:srgbClr val="7FB5C8"/>
                </a:solidFill>
              </a:rPr>
              <a:t>Evalúa el par (query, doc) junto → más lento pero mucho más preciso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200400"/>
            <a:ext cx="3794760" cy="1280160"/>
          </a:xfrm>
          <a:prstGeom prst="rect">
            <a:avLst/>
          </a:prstGeom>
          <a:solidFill>
            <a:srgbClr val="0E203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C2C2"/>
                </a:solidFill>
              </a:rPr>
              <a:t>Flujo de recuperación: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3520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4F8"/>
                </a:solidFill>
              </a:rPr>
              <a:t>FAISS  →  </a:t>
            </a:r>
            <a:r>
              <a:rPr lang="en-US" sz="1000" dirty="0">
                <a:solidFill>
                  <a:srgbClr val="7FB5C8"/>
                </a:solidFill>
              </a:rPr>
              <a:t>Top-20 candidatos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8F4F8"/>
                </a:solidFill>
              </a:rPr>
              <a:t>Cross-Encoder  →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Reordena y selecciona Top-5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Ganancia de precisión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5C518"/>
                </a:solidFill>
              </a:rPr>
              <a:t>sin sacrificar velocidad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 + Grounding Score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393192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3931920" cy="54864"/>
          </a:xfrm>
          <a:prstGeom prst="rect">
            <a:avLst/>
          </a:prstGeom>
          <a:solidFill>
            <a:srgbClr val="12C2C2"/>
          </a:solidFill>
          <a:ln w="12700">
            <a:solidFill>
              <a:srgbClr val="12C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Citation per Sentence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B5C8"/>
                </a:solidFill>
              </a:rPr>
              <a:t>Cada oración de la respuesta se vincula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5C8"/>
                </a:solidFill>
              </a:rPr>
              <a:t>con los chunks fuente que la respaldan.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214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" y="2121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Tokenizar respuesta en oraciones (NLTK)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42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25420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Generar embeddings de oración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62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" y="29626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Calcular similitud coseno con chunks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" y="3383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Asignar cita si similitud &gt; threshold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03904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039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38039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Reportar cobertura de citación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06908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914400"/>
            <a:ext cx="40690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Grounding Score (0–1)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1444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B5C8"/>
                </a:solidFill>
              </a:rPr>
              <a:t>Fracción de oraciones respaldadas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5C8"/>
                </a:solidFill>
              </a:rPr>
              <a:t>por los documentos recuperados.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121408"/>
            <a:ext cx="3886200" cy="548640"/>
          </a:xfrm>
          <a:prstGeom prst="rect">
            <a:avLst/>
          </a:prstGeom>
          <a:solidFill>
            <a:srgbClr val="1A8A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3969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≥ 0.7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2139696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2139696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</a:rPr>
              <a:t>Alta cobertura documental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761488"/>
            <a:ext cx="3886200" cy="548640"/>
          </a:xfrm>
          <a:prstGeom prst="rect">
            <a:avLst/>
          </a:prstGeom>
          <a:solidFill>
            <a:srgbClr val="8A7A1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77977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0.4 – 0.7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97880" y="2779776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WARNING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2779776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</a:rPr>
              <a:t>Cobertura parcial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401568"/>
            <a:ext cx="3886200" cy="548640"/>
          </a:xfrm>
          <a:prstGeom prst="rect">
            <a:avLst/>
          </a:prstGeom>
          <a:solidFill>
            <a:srgbClr val="8A2A1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41985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 0.4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97880" y="3419856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HALLUCINATION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3419856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</a:rPr>
              <a:t>Respuesta no fundamentada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4078224"/>
            <a:ext cx="3886200" cy="420624"/>
          </a:xfrm>
          <a:prstGeom prst="rect">
            <a:avLst/>
          </a:prstGeom>
          <a:solidFill>
            <a:srgbClr val="0E203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0873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2C2C2"/>
                </a:solidFill>
              </a:rPr>
              <a:t>score = oraciones_con_soporte / total_oraciones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FE38BDAC-44E0-FD4F-17B6-089BEBD60F00}"/>
              </a:ext>
            </a:extLst>
          </p:cNvPr>
          <p:cNvSpPr/>
          <p:nvPr/>
        </p:nvSpPr>
        <p:spPr>
          <a:xfrm>
            <a:off x="411480" y="914400"/>
            <a:ext cx="8321040" cy="548640"/>
          </a:xfrm>
          <a:prstGeom prst="rect">
            <a:avLst/>
          </a:prstGeom>
          <a:solidFill>
            <a:srgbClr val="1E3A5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92587901-471A-6C29-553A-911336262846}"/>
              </a:ext>
            </a:extLst>
          </p:cNvPr>
          <p:cNvSpPr/>
          <p:nvPr/>
        </p:nvSpPr>
        <p:spPr>
          <a:xfrm>
            <a:off x="548640" y="9144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B5C8"/>
                </a:solidFill>
              </a:rPr>
              <a:t>Query: </a:t>
            </a:r>
            <a:endParaRPr lang="en-US" sz="12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763AA760-A09C-8E7E-0C0C-C14A3DFDFF78}"/>
              </a:ext>
            </a:extLst>
          </p:cNvPr>
          <p:cNvSpPr/>
          <p:nvPr/>
        </p:nvSpPr>
        <p:spPr>
          <a:xfrm>
            <a:off x="1234440" y="914400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2C2C2"/>
                </a:solidFill>
              </a:rPr>
              <a:t>"What are the challenges of training deep learning models?"</a:t>
            </a:r>
            <a:endParaRPr lang="en-US" sz="125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2CE79544-58C0-7FAB-C819-EC9284FE0535}"/>
              </a:ext>
            </a:extLst>
          </p:cNvPr>
          <p:cNvSpPr/>
          <p:nvPr/>
        </p:nvSpPr>
        <p:spPr>
          <a:xfrm>
            <a:off x="411480" y="1600200"/>
            <a:ext cx="1572768" cy="1737360"/>
          </a:xfrm>
          <a:prstGeom prst="rect">
            <a:avLst/>
          </a:prstGeom>
          <a:solidFill>
            <a:srgbClr val="0E8A8A"/>
          </a:solidFill>
          <a:ln w="12700">
            <a:solidFill>
              <a:srgbClr val="12C2C2">
                <a:alpha val="30000"/>
              </a:srgbClr>
            </a:solidFill>
            <a:prstDash val="solid"/>
          </a:ln>
        </p:spPr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9C9A949A-792F-F5EB-7FBA-B5E50C52AA74}"/>
              </a:ext>
            </a:extLst>
          </p:cNvPr>
          <p:cNvSpPr/>
          <p:nvPr/>
        </p:nvSpPr>
        <p:spPr>
          <a:xfrm>
            <a:off x="466344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C518"/>
                </a:solidFill>
              </a:rPr>
              <a:t>PASO 1</a:t>
            </a:r>
            <a:endParaRPr lang="en-US" sz="8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3305D733-6208-A696-F7D3-93D686A1CAEA}"/>
              </a:ext>
            </a:extLst>
          </p:cNvPr>
          <p:cNvSpPr/>
          <p:nvPr/>
        </p:nvSpPr>
        <p:spPr>
          <a:xfrm>
            <a:off x="466344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FAISS Retrieval</a:t>
            </a:r>
            <a:endParaRPr lang="en-US" sz="11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64DAFBDE-35B7-10A3-1320-A4D8EE88DE57}"/>
              </a:ext>
            </a:extLst>
          </p:cNvPr>
          <p:cNvSpPr/>
          <p:nvPr/>
        </p:nvSpPr>
        <p:spPr>
          <a:xfrm>
            <a:off x="466344" y="239572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20 chunks recuperados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Top similarity: 0.6195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(embeddings densos)</a:t>
            </a:r>
            <a:endParaRPr lang="en-US" sz="85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7690E994-F012-2237-BD8C-1E204789821E}"/>
              </a:ext>
            </a:extLst>
          </p:cNvPr>
          <p:cNvSpPr/>
          <p:nvPr/>
        </p:nvSpPr>
        <p:spPr>
          <a:xfrm>
            <a:off x="2103120" y="1600200"/>
            <a:ext cx="1572768" cy="1737360"/>
          </a:xfrm>
          <a:prstGeom prst="rect">
            <a:avLst/>
          </a:prstGeom>
          <a:solidFill>
            <a:srgbClr val="1A7A7A"/>
          </a:solidFill>
          <a:ln w="12700">
            <a:solidFill>
              <a:srgbClr val="12C2C2">
                <a:alpha val="30000"/>
              </a:srgbClr>
            </a:solidFill>
            <a:prstDash val="solid"/>
          </a:ln>
        </p:spPr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047777F8-E0A7-0F7D-B053-F9ADC23F95B6}"/>
              </a:ext>
            </a:extLst>
          </p:cNvPr>
          <p:cNvSpPr/>
          <p:nvPr/>
        </p:nvSpPr>
        <p:spPr>
          <a:xfrm>
            <a:off x="2157984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C518"/>
                </a:solidFill>
              </a:rPr>
              <a:t>PASO 2</a:t>
            </a:r>
            <a:endParaRPr lang="en-US" sz="8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5ED7DE2F-7287-C89B-3A07-8B1EBF243567}"/>
              </a:ext>
            </a:extLst>
          </p:cNvPr>
          <p:cNvSpPr/>
          <p:nvPr/>
        </p:nvSpPr>
        <p:spPr>
          <a:xfrm>
            <a:off x="2157984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BM25 Híbrido</a:t>
            </a:r>
            <a:endParaRPr lang="en-US" sz="11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96E5F3FC-C557-F1AC-6EA3-F502D1F7E56D}"/>
              </a:ext>
            </a:extLst>
          </p:cNvPr>
          <p:cNvSpPr/>
          <p:nvPr/>
        </p:nvSpPr>
        <p:spPr>
          <a:xfrm>
            <a:off x="2157984" y="239572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Fusión RRF: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léxico (sparse)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+ semántico (dense)</a:t>
            </a:r>
            <a:endParaRPr lang="en-US" sz="850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09FC0B7E-7671-72B5-4704-7070F032735F}"/>
              </a:ext>
            </a:extLst>
          </p:cNvPr>
          <p:cNvSpPr/>
          <p:nvPr/>
        </p:nvSpPr>
        <p:spPr>
          <a:xfrm>
            <a:off x="3794760" y="1600200"/>
            <a:ext cx="1572768" cy="1737360"/>
          </a:xfrm>
          <a:prstGeom prst="rect">
            <a:avLst/>
          </a:prstGeom>
          <a:solidFill>
            <a:srgbClr val="1A6A6A"/>
          </a:solidFill>
          <a:ln w="12700">
            <a:solidFill>
              <a:srgbClr val="12C2C2">
                <a:alpha val="30000"/>
              </a:srgbClr>
            </a:solidFill>
            <a:prstDash val="solid"/>
          </a:ln>
        </p:spPr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34701F2D-9780-F4E9-382A-8B0CCDC6C4E9}"/>
              </a:ext>
            </a:extLst>
          </p:cNvPr>
          <p:cNvSpPr/>
          <p:nvPr/>
        </p:nvSpPr>
        <p:spPr>
          <a:xfrm>
            <a:off x="3849624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C518"/>
                </a:solidFill>
              </a:rPr>
              <a:t>PASO 3</a:t>
            </a:r>
            <a:endParaRPr lang="en-US" sz="8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8127DC7C-244C-25BE-09D8-722D1282414E}"/>
              </a:ext>
            </a:extLst>
          </p:cNvPr>
          <p:cNvSpPr/>
          <p:nvPr/>
        </p:nvSpPr>
        <p:spPr>
          <a:xfrm>
            <a:off x="3849624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Cross-Encoder Reranking</a:t>
            </a:r>
            <a:endParaRPr lang="en-US" sz="11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60526476-2E28-F0D8-C6D4-3A885B1AE373}"/>
              </a:ext>
            </a:extLst>
          </p:cNvPr>
          <p:cNvSpPr/>
          <p:nvPr/>
        </p:nvSpPr>
        <p:spPr>
          <a:xfrm>
            <a:off x="3849624" y="239572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10 chunks seleccionados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Top reranker: 2.71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10/10 cambian de orden</a:t>
            </a:r>
            <a:endParaRPr lang="en-US" sz="850" dirty="0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F0A639C4-A63F-C6C4-7C0E-6D6942679138}"/>
              </a:ext>
            </a:extLst>
          </p:cNvPr>
          <p:cNvSpPr/>
          <p:nvPr/>
        </p:nvSpPr>
        <p:spPr>
          <a:xfrm>
            <a:off x="5486400" y="1600200"/>
            <a:ext cx="1572768" cy="1737360"/>
          </a:xfrm>
          <a:prstGeom prst="rect">
            <a:avLst/>
          </a:prstGeom>
          <a:solidFill>
            <a:srgbClr val="1A5A5A"/>
          </a:solidFill>
          <a:ln w="12700">
            <a:solidFill>
              <a:srgbClr val="12C2C2">
                <a:alpha val="30000"/>
              </a:srgbClr>
            </a:solidFill>
            <a:prstDash val="solid"/>
          </a:ln>
        </p:spPr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C53E82FF-FA00-0A3A-9A40-4E207072F105}"/>
              </a:ext>
            </a:extLst>
          </p:cNvPr>
          <p:cNvSpPr/>
          <p:nvPr/>
        </p:nvSpPr>
        <p:spPr>
          <a:xfrm>
            <a:off x="5541264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C518"/>
                </a:solidFill>
              </a:rPr>
              <a:t>PASO 4</a:t>
            </a:r>
            <a:endParaRPr lang="en-US" sz="8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C4AECDAE-8EFC-EBD1-2267-ED8EB56B4A6A}"/>
              </a:ext>
            </a:extLst>
          </p:cNvPr>
          <p:cNvSpPr/>
          <p:nvPr/>
        </p:nvSpPr>
        <p:spPr>
          <a:xfrm>
            <a:off x="5541264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Mistral 7B-Instruct</a:t>
            </a:r>
            <a:endParaRPr lang="en-US" sz="11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7940F9F3-22C5-7672-0841-9BBB9CD24EAA}"/>
              </a:ext>
            </a:extLst>
          </p:cNvPr>
          <p:cNvSpPr/>
          <p:nvPr/>
        </p:nvSpPr>
        <p:spPr>
          <a:xfrm>
            <a:off x="5541264" y="239572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Respuesta generada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110 palabras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10 fuentes usadas</a:t>
            </a:r>
            <a:endParaRPr lang="en-US" sz="85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C4887897-57F9-9689-D9A1-D972D28ED5FF}"/>
              </a:ext>
            </a:extLst>
          </p:cNvPr>
          <p:cNvSpPr/>
          <p:nvPr/>
        </p:nvSpPr>
        <p:spPr>
          <a:xfrm>
            <a:off x="7178040" y="1600200"/>
            <a:ext cx="1572768" cy="1737360"/>
          </a:xfrm>
          <a:prstGeom prst="rect">
            <a:avLst/>
          </a:prstGeom>
          <a:solidFill>
            <a:srgbClr val="1A4A4A"/>
          </a:solidFill>
          <a:ln w="12700">
            <a:solidFill>
              <a:srgbClr val="12C2C2">
                <a:alpha val="30000"/>
              </a:srgbClr>
            </a:solidFill>
            <a:prstDash val="solid"/>
          </a:ln>
        </p:spPr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A8C3E8FD-662F-C298-DE12-263CB4A2CE81}"/>
              </a:ext>
            </a:extLst>
          </p:cNvPr>
          <p:cNvSpPr/>
          <p:nvPr/>
        </p:nvSpPr>
        <p:spPr>
          <a:xfrm>
            <a:off x="7232904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C518"/>
                </a:solidFill>
              </a:rPr>
              <a:t>PASO 5</a:t>
            </a:r>
            <a:endParaRPr lang="en-US" sz="800" dirty="0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ABEE6082-6A67-79F1-C08C-1B43D6575D9E}"/>
              </a:ext>
            </a:extLst>
          </p:cNvPr>
          <p:cNvSpPr/>
          <p:nvPr/>
        </p:nvSpPr>
        <p:spPr>
          <a:xfrm>
            <a:off x="7232904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Citations + Grounding</a:t>
            </a:r>
            <a:endParaRPr lang="en-US" sz="11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DF81CB9A-880C-7DE7-E234-C4EA973EB535}"/>
              </a:ext>
            </a:extLst>
          </p:cNvPr>
          <p:cNvSpPr/>
          <p:nvPr/>
        </p:nvSpPr>
        <p:spPr>
          <a:xfrm>
            <a:off x="7232904" y="239572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3/4 oraciones citadas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Cobertura: 75.0%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</a:rPr>
              <a:t>Grounding: 0.634 ✓ SAFE</a:t>
            </a:r>
            <a:endParaRPr lang="en-US" sz="850" dirty="0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36244EA3-227E-3495-F3AC-D86C94CE2B32}"/>
              </a:ext>
            </a:extLst>
          </p:cNvPr>
          <p:cNvSpPr/>
          <p:nvPr/>
        </p:nvSpPr>
        <p:spPr>
          <a:xfrm>
            <a:off x="411480" y="3474720"/>
            <a:ext cx="83210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F03BE2F6-2A7B-BD5A-4D96-C7E812FE217C}"/>
              </a:ext>
            </a:extLst>
          </p:cNvPr>
          <p:cNvSpPr/>
          <p:nvPr/>
        </p:nvSpPr>
        <p:spPr>
          <a:xfrm>
            <a:off x="411480" y="3474720"/>
            <a:ext cx="64008" cy="13716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8D2B3359-53B4-3D4E-A6D9-9A7DBE6C2A4B}"/>
              </a:ext>
            </a:extLst>
          </p:cNvPr>
          <p:cNvSpPr/>
          <p:nvPr/>
        </p:nvSpPr>
        <p:spPr>
          <a:xfrm>
            <a:off x="548640" y="35204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518"/>
                </a:solidFill>
              </a:rPr>
              <a:t>Output:</a:t>
            </a:r>
            <a:endParaRPr lang="en-US" sz="1000" dirty="0"/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E3110A9D-B3B4-9CCC-0217-2FAB5C216401}"/>
              </a:ext>
            </a:extLst>
          </p:cNvPr>
          <p:cNvSpPr/>
          <p:nvPr/>
        </p:nvSpPr>
        <p:spPr>
          <a:xfrm>
            <a:off x="548640" y="3813048"/>
            <a:ext cx="7635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B5C8"/>
                </a:solidFill>
              </a:rPr>
              <a:t>Deep learning is a class of ML algorithms utilizing multilayered neural networks for classification, regression, and representation learning, while GPT is a specific LLM that generates text based on semantic relationships. [chunk_13, chunk_893, chunk_1263]  Deep learning applies to image classification, speech recognition and others; GPT is designed for text-based tasks. [chunk_13, chunk_893, chunk_1263]</a:t>
            </a:r>
            <a:endParaRPr lang="en-US" sz="950" dirty="0"/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6F8F1D85-9F12-F6C7-F1FD-177E0D7D95CD}"/>
              </a:ext>
            </a:extLst>
          </p:cNvPr>
          <p:cNvSpPr/>
          <p:nvPr/>
        </p:nvSpPr>
        <p:spPr>
          <a:xfrm>
            <a:off x="6995160" y="3493008"/>
            <a:ext cx="1645920" cy="402336"/>
          </a:xfrm>
          <a:prstGeom prst="rect">
            <a:avLst/>
          </a:prstGeom>
          <a:solidFill>
            <a:srgbClr val="1A5A2A"/>
          </a:solidFill>
          <a:ln w="12700">
            <a:solidFill>
              <a:srgbClr val="1A5A2A"/>
            </a:solidFill>
            <a:prstDash val="solid"/>
          </a:ln>
        </p:spPr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CC944581-DD8C-AC81-4592-DD43CF9CC0BE}"/>
              </a:ext>
            </a:extLst>
          </p:cNvPr>
          <p:cNvSpPr/>
          <p:nvPr/>
        </p:nvSpPr>
        <p:spPr>
          <a:xfrm>
            <a:off x="7022592" y="350215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FF7A"/>
                </a:solidFill>
              </a:rPr>
              <a:t>Grounding: 0.634  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800" dirty="0"/>
          </a:p>
        </p:txBody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343926ED-77F4-2112-4FB0-66AE7A16BB0B}"/>
              </a:ext>
            </a:extLst>
          </p:cNvPr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2057B781-3A81-F49D-0473-C8CE7A9633D4}"/>
              </a:ext>
            </a:extLst>
          </p:cNvPr>
          <p:cNvSpPr/>
          <p:nvPr/>
        </p:nvSpPr>
        <p:spPr>
          <a:xfrm>
            <a:off x="411480" y="914400"/>
            <a:ext cx="201168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2FB04D68-6E6B-396A-D53F-E6C0A8A6BEEE}"/>
              </a:ext>
            </a:extLst>
          </p:cNvPr>
          <p:cNvSpPr/>
          <p:nvPr/>
        </p:nvSpPr>
        <p:spPr>
          <a:xfrm>
            <a:off x="411480" y="914400"/>
            <a:ext cx="2011680" cy="5486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BF183A42-F1F5-A7C0-1D90-BF6A3238BD1C}"/>
              </a:ext>
            </a:extLst>
          </p:cNvPr>
          <p:cNvSpPr/>
          <p:nvPr/>
        </p:nvSpPr>
        <p:spPr>
          <a:xfrm>
            <a:off x="457200" y="9875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C2C2"/>
                </a:solidFill>
              </a:rPr>
              <a:t>2,793</a:t>
            </a:r>
            <a:endParaRPr lang="en-US" sz="30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EB1BBA6C-A18D-4320-374C-A125EAE45F65}"/>
              </a:ext>
            </a:extLst>
          </p:cNvPr>
          <p:cNvSpPr/>
          <p:nvPr/>
        </p:nvSpPr>
        <p:spPr>
          <a:xfrm>
            <a:off x="457200" y="1682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Chunks indexados</a:t>
            </a:r>
            <a:endParaRPr lang="en-US" sz="10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144D2AF1-7E01-7D4C-2FB9-474B8BEBD99B}"/>
              </a:ext>
            </a:extLst>
          </p:cNvPr>
          <p:cNvSpPr/>
          <p:nvPr/>
        </p:nvSpPr>
        <p:spPr>
          <a:xfrm>
            <a:off x="457200" y="20116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5C8"/>
                </a:solidFill>
              </a:rPr>
              <a:t>183 artículos Wikipedia</a:t>
            </a:r>
            <a:endParaRPr lang="en-US" sz="900" dirty="0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732373D5-E53B-C085-D50A-E4543486DA89}"/>
              </a:ext>
            </a:extLst>
          </p:cNvPr>
          <p:cNvSpPr/>
          <p:nvPr/>
        </p:nvSpPr>
        <p:spPr>
          <a:xfrm>
            <a:off x="2560320" y="914400"/>
            <a:ext cx="201168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4A37F841-833A-6A01-3DA1-3675418177B5}"/>
              </a:ext>
            </a:extLst>
          </p:cNvPr>
          <p:cNvSpPr/>
          <p:nvPr/>
        </p:nvSpPr>
        <p:spPr>
          <a:xfrm>
            <a:off x="2560320" y="914400"/>
            <a:ext cx="2011680" cy="5486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46C827E6-CE3C-BE07-F998-B41878D2B838}"/>
              </a:ext>
            </a:extLst>
          </p:cNvPr>
          <p:cNvSpPr/>
          <p:nvPr/>
        </p:nvSpPr>
        <p:spPr>
          <a:xfrm>
            <a:off x="2606040" y="9875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C2C2"/>
                </a:solidFill>
              </a:rPr>
              <a:t>0.574</a:t>
            </a:r>
            <a:endParaRPr lang="en-US" sz="3000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B6E7EABD-DED0-EE02-6C73-8A6F856F45A6}"/>
              </a:ext>
            </a:extLst>
          </p:cNvPr>
          <p:cNvSpPr/>
          <p:nvPr/>
        </p:nvSpPr>
        <p:spPr>
          <a:xfrm>
            <a:off x="2606040" y="1682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Grounding promedio</a:t>
            </a:r>
            <a:endParaRPr lang="en-US" sz="100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A42D5282-3B95-E64D-CFA5-1328BFE8FE0C}"/>
              </a:ext>
            </a:extLst>
          </p:cNvPr>
          <p:cNvSpPr/>
          <p:nvPr/>
        </p:nvSpPr>
        <p:spPr>
          <a:xfrm>
            <a:off x="2606040" y="20116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5C8"/>
                </a:solidFill>
              </a:rPr>
              <a:t>threshold: 0.6 | 9/15 SAFE</a:t>
            </a:r>
            <a:endParaRPr lang="en-US" sz="900" dirty="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E651A4AE-72BF-B563-0009-C17C660CA426}"/>
              </a:ext>
            </a:extLst>
          </p:cNvPr>
          <p:cNvSpPr/>
          <p:nvPr/>
        </p:nvSpPr>
        <p:spPr>
          <a:xfrm>
            <a:off x="4709160" y="914400"/>
            <a:ext cx="201168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DDC0B54D-F619-C3EB-4BF3-EA59ECB1CBF9}"/>
              </a:ext>
            </a:extLst>
          </p:cNvPr>
          <p:cNvSpPr/>
          <p:nvPr/>
        </p:nvSpPr>
        <p:spPr>
          <a:xfrm>
            <a:off x="4709160" y="914400"/>
            <a:ext cx="2011680" cy="5486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BB45D8B4-5BDB-FC23-C32C-C060E2B6ED9F}"/>
              </a:ext>
            </a:extLst>
          </p:cNvPr>
          <p:cNvSpPr/>
          <p:nvPr/>
        </p:nvSpPr>
        <p:spPr>
          <a:xfrm>
            <a:off x="4754880" y="9875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C2C2"/>
                </a:solidFill>
              </a:rPr>
              <a:t>62.0%</a:t>
            </a:r>
            <a:endParaRPr lang="en-US" sz="300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07F1A65E-EC7E-ED45-D4D4-973677E286B0}"/>
              </a:ext>
            </a:extLst>
          </p:cNvPr>
          <p:cNvSpPr/>
          <p:nvPr/>
        </p:nvSpPr>
        <p:spPr>
          <a:xfrm>
            <a:off x="4754880" y="1682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Citation coverage</a:t>
            </a:r>
            <a:endParaRPr lang="en-US" sz="100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032BD842-FA10-BB1F-AF76-77A980D2F0A2}"/>
              </a:ext>
            </a:extLst>
          </p:cNvPr>
          <p:cNvSpPr/>
          <p:nvPr/>
        </p:nvSpPr>
        <p:spPr>
          <a:xfrm>
            <a:off x="4754880" y="20116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5C8"/>
                </a:solidFill>
              </a:rPr>
              <a:t>promedio sobre 10 queries</a:t>
            </a:r>
            <a:endParaRPr lang="en-US" sz="900" dirty="0"/>
          </a:p>
        </p:txBody>
      </p:sp>
      <p:sp>
        <p:nvSpPr>
          <p:cNvPr id="59" name="Shape 18">
            <a:extLst>
              <a:ext uri="{FF2B5EF4-FFF2-40B4-BE49-F238E27FC236}">
                <a16:creationId xmlns:a16="http://schemas.microsoft.com/office/drawing/2014/main" id="{24FC740A-0F8F-FC8A-B612-5988D023DAB1}"/>
              </a:ext>
            </a:extLst>
          </p:cNvPr>
          <p:cNvSpPr/>
          <p:nvPr/>
        </p:nvSpPr>
        <p:spPr>
          <a:xfrm>
            <a:off x="6858000" y="914400"/>
            <a:ext cx="201168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0" name="Shape 19">
            <a:extLst>
              <a:ext uri="{FF2B5EF4-FFF2-40B4-BE49-F238E27FC236}">
                <a16:creationId xmlns:a16="http://schemas.microsoft.com/office/drawing/2014/main" id="{590F5313-DBE5-4B88-0B58-F475D6E4C9E8}"/>
              </a:ext>
            </a:extLst>
          </p:cNvPr>
          <p:cNvSpPr/>
          <p:nvPr/>
        </p:nvSpPr>
        <p:spPr>
          <a:xfrm>
            <a:off x="6858000" y="914400"/>
            <a:ext cx="2011680" cy="5486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86BD2500-F7A8-F25A-78DC-CF39D41A1556}"/>
              </a:ext>
            </a:extLst>
          </p:cNvPr>
          <p:cNvSpPr/>
          <p:nvPr/>
        </p:nvSpPr>
        <p:spPr>
          <a:xfrm>
            <a:off x="6903720" y="9875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C2C2"/>
                </a:solidFill>
              </a:rPr>
              <a:t>0.033</a:t>
            </a:r>
            <a:endParaRPr lang="en-US" sz="30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9EFB73ED-DA7B-D90A-A25E-13B9F1E3D144}"/>
              </a:ext>
            </a:extLst>
          </p:cNvPr>
          <p:cNvSpPr/>
          <p:nvPr/>
        </p:nvSpPr>
        <p:spPr>
          <a:xfrm>
            <a:off x="6903720" y="1682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BLEU-4 promedio</a:t>
            </a:r>
            <a:endParaRPr lang="en-US" sz="1000" dirty="0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EF49897B-8356-ECFA-49D4-13C950F14525}"/>
              </a:ext>
            </a:extLst>
          </p:cNvPr>
          <p:cNvSpPr/>
          <p:nvPr/>
        </p:nvSpPr>
        <p:spPr>
          <a:xfrm>
            <a:off x="6903720" y="20116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5C8"/>
                </a:solidFill>
              </a:rPr>
              <a:t>ROUGE-L: 0.193 | 15 preguntas</a:t>
            </a:r>
            <a:endParaRPr lang="en-US" sz="900" dirty="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B19B0D9F-91B7-161E-4349-7F8ED9CA4A88}"/>
              </a:ext>
            </a:extLst>
          </p:cNvPr>
          <p:cNvSpPr/>
          <p:nvPr/>
        </p:nvSpPr>
        <p:spPr>
          <a:xfrm>
            <a:off x="411480" y="2487168"/>
            <a:ext cx="83210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5" name="Shape 24">
            <a:extLst>
              <a:ext uri="{FF2B5EF4-FFF2-40B4-BE49-F238E27FC236}">
                <a16:creationId xmlns:a16="http://schemas.microsoft.com/office/drawing/2014/main" id="{307857FF-D5B6-23F0-557D-9F03543BF3BF}"/>
              </a:ext>
            </a:extLst>
          </p:cNvPr>
          <p:cNvSpPr/>
          <p:nvPr/>
        </p:nvSpPr>
        <p:spPr>
          <a:xfrm>
            <a:off x="411480" y="2487168"/>
            <a:ext cx="83210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6" name="Text 25">
            <a:extLst>
              <a:ext uri="{FF2B5EF4-FFF2-40B4-BE49-F238E27FC236}">
                <a16:creationId xmlns:a16="http://schemas.microsoft.com/office/drawing/2014/main" id="{6FE351CB-7512-B965-8954-9E0B177F101C}"/>
              </a:ext>
            </a:extLst>
          </p:cNvPr>
          <p:cNvSpPr/>
          <p:nvPr/>
        </p:nvSpPr>
        <p:spPr>
          <a:xfrm>
            <a:off x="548640" y="25786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Evaluación Automática: BLEU-4 y ROUGE-L</a:t>
            </a:r>
            <a:endParaRPr lang="en-US" sz="130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F985870A-293B-B612-5D0D-7348D91B6CCD}"/>
              </a:ext>
            </a:extLst>
          </p:cNvPr>
          <p:cNvSpPr/>
          <p:nvPr/>
        </p:nvSpPr>
        <p:spPr>
          <a:xfrm>
            <a:off x="50292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C2C2"/>
                </a:solidFill>
              </a:rPr>
              <a:t>BLEU-4: </a:t>
            </a:r>
            <a:endParaRPr lang="en-US" sz="1050" dirty="0"/>
          </a:p>
        </p:txBody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5088C31B-0731-A3CD-F073-649EB07F1B29}"/>
              </a:ext>
            </a:extLst>
          </p:cNvPr>
          <p:cNvSpPr/>
          <p:nvPr/>
        </p:nvSpPr>
        <p:spPr>
          <a:xfrm>
            <a:off x="502920" y="3200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Media: 0.033 | Rango: 0.00–0.143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Mide n-gramas compartidos con la referencia.</a:t>
            </a:r>
            <a:endParaRPr lang="en-US" sz="950" dirty="0"/>
          </a:p>
        </p:txBody>
      </p:sp>
      <p:sp>
        <p:nvSpPr>
          <p:cNvPr id="69" name="Text 28">
            <a:extLst>
              <a:ext uri="{FF2B5EF4-FFF2-40B4-BE49-F238E27FC236}">
                <a16:creationId xmlns:a16="http://schemas.microsoft.com/office/drawing/2014/main" id="{4E2F8623-C00F-BBAC-C488-5095392355DD}"/>
              </a:ext>
            </a:extLst>
          </p:cNvPr>
          <p:cNvSpPr/>
          <p:nvPr/>
        </p:nvSpPr>
        <p:spPr>
          <a:xfrm>
            <a:off x="329184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518"/>
                </a:solidFill>
              </a:rPr>
              <a:t>ROUGE-L: </a:t>
            </a:r>
            <a:endParaRPr lang="en-US" sz="1050" dirty="0"/>
          </a:p>
        </p:txBody>
      </p:sp>
      <p:sp>
        <p:nvSpPr>
          <p:cNvPr id="70" name="Text 29">
            <a:extLst>
              <a:ext uri="{FF2B5EF4-FFF2-40B4-BE49-F238E27FC236}">
                <a16:creationId xmlns:a16="http://schemas.microsoft.com/office/drawing/2014/main" id="{724D4B8D-D149-BB3B-6BF6-B65444B6F29C}"/>
              </a:ext>
            </a:extLst>
          </p:cNvPr>
          <p:cNvSpPr/>
          <p:nvPr/>
        </p:nvSpPr>
        <p:spPr>
          <a:xfrm>
            <a:off x="3291840" y="3200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Media: 0.193 | Rango: 0.00–0.350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LCS — evalúa coherencia estructural.</a:t>
            </a:r>
            <a:endParaRPr lang="en-US" sz="950" dirty="0"/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06212F8F-34AB-0525-5BCC-2DC104EFD44F}"/>
              </a:ext>
            </a:extLst>
          </p:cNvPr>
          <p:cNvSpPr/>
          <p:nvPr/>
        </p:nvSpPr>
        <p:spPr>
          <a:xfrm>
            <a:off x="608076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FF7A"/>
                </a:solidFill>
              </a:rPr>
              <a:t>Grounding: </a:t>
            </a:r>
            <a:endParaRPr lang="en-US" sz="1050" dirty="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F4A501F8-201A-B0C7-3147-601AC87CC687}"/>
              </a:ext>
            </a:extLst>
          </p:cNvPr>
          <p:cNvSpPr/>
          <p:nvPr/>
        </p:nvSpPr>
        <p:spPr>
          <a:xfrm>
            <a:off x="6080760" y="3200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Media: 0.574 | 9/15 aprobados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B5C8"/>
                </a:solidFill>
              </a:rPr>
              <a:t>Fracción de oraciones con soporte documental.</a:t>
            </a:r>
            <a:endParaRPr lang="en-US" sz="950" dirty="0"/>
          </a:p>
        </p:txBody>
      </p:sp>
      <p:sp>
        <p:nvSpPr>
          <p:cNvPr id="73" name="Shape 32">
            <a:extLst>
              <a:ext uri="{FF2B5EF4-FFF2-40B4-BE49-F238E27FC236}">
                <a16:creationId xmlns:a16="http://schemas.microsoft.com/office/drawing/2014/main" id="{8B48929C-53CA-A2A3-10C0-07231C566E7D}"/>
              </a:ext>
            </a:extLst>
          </p:cNvPr>
          <p:cNvSpPr/>
          <p:nvPr/>
        </p:nvSpPr>
        <p:spPr>
          <a:xfrm>
            <a:off x="411480" y="4005072"/>
            <a:ext cx="8321040" cy="868680"/>
          </a:xfrm>
          <a:prstGeom prst="rect">
            <a:avLst/>
          </a:prstGeom>
          <a:solidFill>
            <a:srgbClr val="0E203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4" name="Text 33">
            <a:extLst>
              <a:ext uri="{FF2B5EF4-FFF2-40B4-BE49-F238E27FC236}">
                <a16:creationId xmlns:a16="http://schemas.microsoft.com/office/drawing/2014/main" id="{DE0D6BDA-CE21-4C9F-047B-7B6D3936FF73}"/>
              </a:ext>
            </a:extLst>
          </p:cNvPr>
          <p:cNvSpPr/>
          <p:nvPr/>
        </p:nvSpPr>
        <p:spPr>
          <a:xfrm>
            <a:off x="548640" y="4041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A8A"/>
                </a:solidFill>
              </a:rPr>
              <a:t>Checklist del proyecto:</a:t>
            </a:r>
            <a:endParaRPr lang="en-US" sz="1000" dirty="0"/>
          </a:p>
        </p:txBody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50B1620A-03A4-B1E6-3292-E10EFBA90899}"/>
              </a:ext>
            </a:extLst>
          </p:cNvPr>
          <p:cNvSpPr/>
          <p:nvPr/>
        </p:nvSpPr>
        <p:spPr>
          <a:xfrm>
            <a:off x="548640" y="437083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FF7A"/>
                </a:solidFill>
              </a:rPr>
              <a:t>✓ Dataset 2,793 chunks</a:t>
            </a:r>
            <a:endParaRPr lang="en-US" sz="900" dirty="0"/>
          </a:p>
        </p:txBody>
      </p:sp>
      <p:sp>
        <p:nvSpPr>
          <p:cNvPr id="76" name="Text 35">
            <a:extLst>
              <a:ext uri="{FF2B5EF4-FFF2-40B4-BE49-F238E27FC236}">
                <a16:creationId xmlns:a16="http://schemas.microsoft.com/office/drawing/2014/main" id="{34DDF9EE-396E-7730-168A-10AB1AAB7398}"/>
              </a:ext>
            </a:extLst>
          </p:cNvPr>
          <p:cNvSpPr/>
          <p:nvPr/>
        </p:nvSpPr>
        <p:spPr>
          <a:xfrm>
            <a:off x="1737360" y="437083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FF7A"/>
                </a:solidFill>
              </a:rPr>
              <a:t>✓ Chunking+FAISS HNSW</a:t>
            </a:r>
            <a:endParaRPr lang="en-US" sz="90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86F7193F-4682-F001-BD9D-6802B006189F}"/>
              </a:ext>
            </a:extLst>
          </p:cNvPr>
          <p:cNvSpPr/>
          <p:nvPr/>
        </p:nvSpPr>
        <p:spPr>
          <a:xfrm>
            <a:off x="2926080" y="437083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FF7A"/>
                </a:solidFill>
              </a:rPr>
              <a:t>✓ Reranker (+8/10 reord.)</a:t>
            </a:r>
            <a:endParaRPr lang="en-US" sz="900" dirty="0"/>
          </a:p>
        </p:txBody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E3BB9CB8-690A-2C30-BD6A-BBB12057D376}"/>
              </a:ext>
            </a:extLst>
          </p:cNvPr>
          <p:cNvSpPr/>
          <p:nvPr/>
        </p:nvSpPr>
        <p:spPr>
          <a:xfrm>
            <a:off x="4114800" y="437083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FF7A"/>
                </a:solidFill>
              </a:rPr>
              <a:t>✓ Citation/Sentence 62%</a:t>
            </a:r>
            <a:endParaRPr lang="en-US" sz="900" dirty="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811D7C13-772C-4EDB-BFDB-DF6DBEC1F4B4}"/>
              </a:ext>
            </a:extLst>
          </p:cNvPr>
          <p:cNvSpPr/>
          <p:nvPr/>
        </p:nvSpPr>
        <p:spPr>
          <a:xfrm>
            <a:off x="5303520" y="437083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FF7A"/>
                </a:solidFill>
              </a:rPr>
              <a:t>✓ Grounding 0.574</a:t>
            </a:r>
            <a:endParaRPr lang="en-US" sz="900" dirty="0"/>
          </a:p>
        </p:txBody>
      </p:sp>
      <p:sp>
        <p:nvSpPr>
          <p:cNvPr id="80" name="Text 39">
            <a:extLst>
              <a:ext uri="{FF2B5EF4-FFF2-40B4-BE49-F238E27FC236}">
                <a16:creationId xmlns:a16="http://schemas.microsoft.com/office/drawing/2014/main" id="{B7983744-AD78-5991-34C2-6A49A94E055C}"/>
              </a:ext>
            </a:extLst>
          </p:cNvPr>
          <p:cNvSpPr/>
          <p:nvPr/>
        </p:nvSpPr>
        <p:spPr>
          <a:xfrm>
            <a:off x="6492240" y="437083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FF7A"/>
                </a:solidFill>
              </a:rPr>
              <a:t>✓ BLEU-4+ROUGE-L</a:t>
            </a:r>
            <a:endParaRPr lang="en-US" sz="90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DDBF92-ED5D-6027-2E76-D4B768F1DFA1}"/>
              </a:ext>
            </a:extLst>
          </p:cNvPr>
          <p:cNvSpPr/>
          <p:nvPr/>
        </p:nvSpPr>
        <p:spPr>
          <a:xfrm>
            <a:off x="7680960" y="437083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FF7A"/>
                </a:solidFill>
              </a:rPr>
              <a:t>✓ BM25+Mistral 7B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8321040" cy="87782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54864" cy="87782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50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C2C2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96926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reduce alucinaciones eficazmente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3167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Al condicionar la respuesta del LLM sobre documentos recuperados, el sistema mantiene coherencia factual medible con el grounding score.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8321040" cy="87782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01952"/>
            <a:ext cx="54864" cy="87782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38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C2C2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1956816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 reranking mejora la precisión sin costo prohibitivo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3042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El cross-encoder reordena los candidatos con mayor precisión semántica, compensando la limitación del bi-encoder de FAISS.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889504"/>
            <a:ext cx="8321040" cy="87782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89504"/>
            <a:ext cx="54864" cy="87782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926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C2C2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29443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Hibridación BM25 + FAISS amplía el recall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La búsqueda léxica (BM25) captura coincidencias exactas que el embedding semántico puede pasar por alto, mejorando la cobertura general.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877056"/>
            <a:ext cx="8321040" cy="87782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877056"/>
            <a:ext cx="54864" cy="87782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913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C2C2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393192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 evaluación multi-métrica es clave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27939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8"/>
                </a:solidFill>
              </a:rPr>
              <a:t>BLEU-4 y ROUGE-L miden calidad textual; el grounding score mide fundamentación. Usar solo una métrica da una imagen incompleta del sistema.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865</Words>
  <Application>Microsoft Macintosh PowerPoint</Application>
  <PresentationFormat>On-screen Show (16:9)</PresentationFormat>
  <Paragraphs>213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RAG - IA Generativa</dc:title>
  <dc:subject>PptxGenJS Presentation</dc:subject>
  <dc:creator>Luis Sanchez - Jonathan Ramirez</dc:creator>
  <cp:lastModifiedBy>Luis Sanchez</cp:lastModifiedBy>
  <cp:revision>2</cp:revision>
  <dcterms:created xsi:type="dcterms:W3CDTF">2026-03-24T05:40:35Z</dcterms:created>
  <dcterms:modified xsi:type="dcterms:W3CDTF">2026-03-24T07:10:25Z</dcterms:modified>
</cp:coreProperties>
</file>